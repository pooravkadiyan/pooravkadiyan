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28800"/>
            <a:ext cx="1097280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E1"/>
                </a:solidFill>
                <a:latin typeface="Calibri"/>
              </a:rPr>
              <a:t>Find better sources, faster — Boolean logic, operators,
databases, citation tracking, and evaluation skills.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Research • Information Literacy • Digital Skills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A practical roadmap for searching like a researcher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109728" cy="86868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9339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Why advanced search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109728" cy="8686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38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9339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Boolean operators (AND, OR, NOT)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109728" cy="86868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900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04495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Phrase, truncation &amp; wildcards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788920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788920"/>
            <a:ext cx="109728" cy="8686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04495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Field &amp; Google/web operators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840479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840479"/>
            <a:ext cx="109728" cy="86868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4164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96511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Choosing the right database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840479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840479"/>
            <a:ext cx="109728" cy="8686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04164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096511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Citation chaining &amp; snowballing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892040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892040"/>
            <a:ext cx="109728" cy="86868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0932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14807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Evaluating results critically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892040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892040"/>
            <a:ext cx="109728" cy="8686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50932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6B6B"/>
                </a:solidFill>
                <a:latin typeface="Calibri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14807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A2C"/>
                </a:solidFill>
                <a:latin typeface="Calibri"/>
              </a:rPr>
              <a:t>A repeatable search workflow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Advanced Search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Good questions die when search skills are 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2A2C"/>
                </a:solidFill>
                <a:latin typeface="Calibri"/>
              </a:rPr>
              <a:t>•  Basic keyword searches bury relevant results under noise and ads.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2A2C"/>
                </a:solidFill>
                <a:latin typeface="Calibri"/>
              </a:rPr>
              <a:t>•  Researchers lose hours clicking irrelevant pages and paywalled dead-ends.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2A2C"/>
                </a:solidFill>
                <a:latin typeface="Calibri"/>
              </a:rPr>
              <a:t>•  Advanced techniques surface peer-reviewed, primary, and hard-to-find sources.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2A2C"/>
                </a:solidFill>
                <a:latin typeface="Calibri"/>
              </a:rPr>
              <a:t>•  Precision operators cut results from millions to a manageable, high-quality set.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2A2C"/>
                </a:solidFill>
                <a:latin typeface="Calibri"/>
              </a:rPr>
              <a:t>•  These skills transfer across Google, Google Scholar, library databases, and AI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4023360" cy="40233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1031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3D"/>
                </a:solidFill>
                <a:latin typeface="Calibri"/>
              </a:rPr>
              <a:t>The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651760"/>
            <a:ext cx="3566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Move from browsing hope
to intentional retrieval:
Right tool → Right query →
Right sources → Judged carefully.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Boolean Operators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The foundation of almost every advanced search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3566160" cy="8229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6B6B"/>
                </a:solidFill>
                <a:latin typeface="Calibri"/>
              </a:rPr>
              <a:t>Narrows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climate AND agriculture
Only pages that include
both concepts.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69164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691640"/>
            <a:ext cx="3566160" cy="8229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745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2E33"/>
                </a:solidFill>
                <a:latin typeface="Calibri"/>
              </a:rPr>
              <a:t>Broadens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1546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teenager OR adolescent
Useful for synonyms
and alternate spellings.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69164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691640"/>
            <a:ext cx="3566160" cy="82296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8745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NOT / 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3D"/>
                </a:solidFill>
                <a:latin typeface="Calibri"/>
              </a:rPr>
              <a:t>Excludes terms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15468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jaguar NOT car
Removes unwanted
meanings of a word.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Phrases, Truncation &amp; Wildcards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Control word order and catch word variants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"exact phrase"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Quotes lock word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"renewable energy policy"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2316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truncation 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06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Stem + any 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06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educat* → educate, education, educator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29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wildcard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429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Single-character swap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4290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organi?ation → organization / organisation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6908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51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parentheses ( 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251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Group logic cleanly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2519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(teen OR adolescent) AND anxiety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9204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near / proximity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074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Words close together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074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climate NEAR/5 justice  (database-specific)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Field &amp; Web Search Operators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Target titles, sites, file types, and date ranges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site: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Limit to a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site:edu  climate justice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59" y="1554480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9" y="1691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filetype: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9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Find PDFs, docs, etc.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39" y="20299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filetype:pdf  open access syllabus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06039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4319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intitle: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274319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Require word in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8152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intitle:"systematic review"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59" y="2606039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39" y="274319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inurl: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274319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Word appears in URL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39" y="308152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inurl:report  water scarcity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57600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94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before: / after: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794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Date filters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330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misinformation after:2023-01-01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59" y="3657600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39" y="3794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related: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3794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Similar sites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39" y="41330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related:who.int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09159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84631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cache: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484631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Cached page 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18464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cache:example.org/page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4709159"/>
            <a:ext cx="5577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484631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7A3D"/>
                </a:solidFill>
                <a:latin typeface="Calibri"/>
              </a:rPr>
              <a:t>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9" y="484631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C5E"/>
                </a:solidFill>
                <a:latin typeface="Calibri"/>
              </a:rPr>
              <a:t>Exclude a term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39" y="518464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A2C"/>
                </a:solidFill>
                <a:latin typeface="Calibri"/>
              </a:rPr>
              <a:t>apple -fruit -pie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Choose the Right Search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Match the tool to the type of evidence you need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37160" cy="5486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3"/>
                </a:solidFill>
                <a:latin typeface="Calibri"/>
              </a:rPr>
              <a:t>Google / 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62763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Broad discovery, news, grey literature, how-to pages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137160" cy="54864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134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3"/>
                </a:solidFill>
                <a:latin typeface="Calibri"/>
              </a:rPr>
              <a:t>Google Scholar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31343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Academic articles, citations, versions, related works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26080"/>
            <a:ext cx="137160" cy="5486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992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3"/>
                </a:solidFill>
                <a:latin typeface="Calibri"/>
              </a:rPr>
              <a:t>Library databases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99923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PubMed, JSTOR, Scopus, Web of Science, IEEE, ERIC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11880"/>
            <a:ext cx="137160" cy="54864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6850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3"/>
                </a:solidFill>
                <a:latin typeface="Calibri"/>
              </a:rPr>
              <a:t>Government / 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68503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Official data, policy PDFs, census, WHO, UN, national portals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97680"/>
            <a:ext cx="137160" cy="5486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708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3"/>
                </a:solidFill>
                <a:latin typeface="Calibri"/>
              </a:rPr>
              <a:t>Specialist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37083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Patents, legal (e.g. case law), datasets, code repos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983480"/>
            <a:ext cx="137160" cy="54864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0566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3"/>
                </a:solidFill>
                <a:latin typeface="Calibri"/>
              </a:rPr>
              <a:t>Library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05663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A2C"/>
                </a:solidFill>
                <a:latin typeface="Calibri"/>
              </a:rPr>
              <a:t>Your campus catalog + linked full-text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Citation Chaining &amp; Snowballing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Let excellent papers lead you to more excellent papers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53949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5394960" cy="6400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Backward chaining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Start with a strong seed article.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Mine its reference list for classics and foundations.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Look for reviews &amp; meta-analyses first.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Note recurring author names and journals.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3949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91640"/>
            <a:ext cx="5394960" cy="640080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Forward chaining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Use “Cited by” in Google Scholar / Scopus.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Find newer work that builds on your seed paper.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Track debates, replications, and updates.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A2C"/>
                </a:solidFill>
                <a:latin typeface="Calibri"/>
              </a:rPr>
              <a:t>•  Set alerts for new citations over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Evaluate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Retrieval without judgment is just noise collection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Who wrote it? Credentials, affiliation, funding?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91640"/>
            <a:ext cx="3611880" cy="109728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032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Cited sources? Methods clear? Peer-reviewed?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69164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691640"/>
            <a:ext cx="3611880" cy="109728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0574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Currency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6032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Is the date appropriate for your question?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4048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3611880" cy="109728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062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70916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Inform, persuade, sell, or entertain?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84048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3840480"/>
            <a:ext cx="3611880" cy="109728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42062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70916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Sample size, scope, and what is excluded?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84048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80" y="3840480"/>
            <a:ext cx="3611880" cy="109728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42062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Bias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70916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Agenda, framing, missing counter-evidence?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Repeatable Search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Treat searching as a cycle, not a single 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3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57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Define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Write a clear research question and list key concepts.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3D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057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Map terms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Synonyms, jargon, acronyms, related phrases.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69164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65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3D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057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Build 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5176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Boolean + phrases + field limits.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4048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148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3D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06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Pick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0060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Scholar / databases / web / gov as needed.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84048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1148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3D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206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80060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Tighten or broaden; check first 2–3 pages carefully.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840480"/>
            <a:ext cx="36118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1148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3D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4206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E33"/>
                </a:solidFill>
                <a:latin typeface="Calibri"/>
              </a:rPr>
              <a:t>Document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0060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A2C"/>
                </a:solidFill>
                <a:latin typeface="Calibri"/>
              </a:rPr>
              <a:t>Save queries, DOIs, and why each source matters.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Quick Cheat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C5E"/>
                </a:solidFill>
                <a:latin typeface="Calibri"/>
              </a:rPr>
              <a:t>Copy-ready patterns you can reuse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6B6B"/>
                </a:solidFill>
                <a:latin typeface="Calibri"/>
              </a:rPr>
              <a:t>"machine learning" AND (education OR classroom) site:.edu filetype:pdf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C5E"/>
                </a:solidFill>
                <a:latin typeface="Calibri"/>
              </a:rPr>
              <a:t>Academic PDFs on ML in education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8716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6B6B"/>
                </a:solidFill>
                <a:latin typeface="Calibri"/>
              </a:rPr>
              <a:t>(anxiety OR depression) AND adolescent* NOT bipolar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6148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C5E"/>
                </a:solidFill>
                <a:latin typeface="Calibri"/>
              </a:rPr>
              <a:t>Narrow clinical topic; exclude a related condition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0040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1012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6B6B"/>
                </a:solidFill>
                <a:latin typeface="Calibri"/>
              </a:rPr>
              <a:t>intitle:"systematic review" climate migration after:2020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844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C5E"/>
                </a:solidFill>
                <a:latin typeface="Calibri"/>
              </a:rPr>
              <a:t>Recent reviews with the phrase in the title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33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6B6B"/>
                </a:solidFill>
                <a:latin typeface="Calibri"/>
              </a:rPr>
              <a:t>author:"last name"  + key topic  (in Scholar)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C5E"/>
                </a:solidFill>
                <a:latin typeface="Calibri"/>
              </a:rPr>
              <a:t>Work by a known expert on your theme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46320"/>
            <a:ext cx="111556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5604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6B6B"/>
                </a:solidFill>
                <a:latin typeface="Calibri"/>
              </a:rPr>
              <a:t>Cited by → review newest high-citation papers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23036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C5E"/>
                </a:solidFill>
                <a:latin typeface="Calibri"/>
              </a:rPr>
              <a:t>Forward chain from a foundational study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C5E"/>
                </a:solidFill>
                <a:latin typeface="Calibri"/>
              </a:rPr>
              <a:t>Advanced Search Techniques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A5C5E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097280" cy="73152"/>
          </a:xfrm>
          <a:prstGeom prst="rect">
            <a:avLst/>
          </a:prstGeom>
          <a:solidFill>
            <a:srgbClr val="E8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Search with intention.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E1"/>
                </a:solidFill>
                <a:latin typeface="Calibri"/>
              </a:rPr>
              <a:t>Combine Boolean logic, operators, the right databases,
citation chaining, and critical evaluation.
Better queries → better evidence → stronger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Thank you  ·  Practice on your next research question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